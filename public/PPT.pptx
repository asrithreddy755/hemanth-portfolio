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lice" panose="020B0604020202020204" charset="0"/>
      <p:regular r:id="rId12"/>
    </p:embeddedFont>
    <p:embeddedFont>
      <p:font typeface="Alice Bold" panose="020B0604020202020204" charset="0"/>
      <p:regular r:id="rId13"/>
    </p:embeddedFont>
    <p:embeddedFont>
      <p:font typeface="Canva Sans" panose="020B0604020202020204" charset="0"/>
      <p:regular r:id="rId14"/>
    </p:embeddedFont>
    <p:embeddedFont>
      <p:font typeface="Canva Sans Medium" panose="020B0604020202020204" charset="0"/>
      <p:regular r:id="rId15"/>
    </p:embeddedFont>
    <p:embeddedFont>
      <p:font typeface="Gagalin" panose="020B0604020202020204" charset="0"/>
      <p:regular r:id="rId16"/>
    </p:embeddedFont>
    <p:embeddedFont>
      <p:font typeface="Poppins" panose="020B0502040204020203" pitchFamily="2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72653" y="343263"/>
            <a:ext cx="2542694" cy="1643217"/>
          </a:xfrm>
          <a:custGeom>
            <a:avLst/>
            <a:gdLst/>
            <a:ahLst/>
            <a:cxnLst/>
            <a:rect l="l" t="t" r="r" b="b"/>
            <a:pathLst>
              <a:path w="2542694" h="1643217">
                <a:moveTo>
                  <a:pt x="0" y="0"/>
                </a:moveTo>
                <a:lnTo>
                  <a:pt x="2542694" y="0"/>
                </a:lnTo>
                <a:lnTo>
                  <a:pt x="2542694" y="1643217"/>
                </a:lnTo>
                <a:lnTo>
                  <a:pt x="0" y="16432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759" b="-2897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22346" y="5889219"/>
            <a:ext cx="4945779" cy="3605922"/>
          </a:xfrm>
          <a:custGeom>
            <a:avLst/>
            <a:gdLst/>
            <a:ahLst/>
            <a:cxnLst/>
            <a:rect l="l" t="t" r="r" b="b"/>
            <a:pathLst>
              <a:path w="4945779" h="3605922">
                <a:moveTo>
                  <a:pt x="0" y="0"/>
                </a:moveTo>
                <a:lnTo>
                  <a:pt x="4945780" y="0"/>
                </a:lnTo>
                <a:lnTo>
                  <a:pt x="4945780" y="3605923"/>
                </a:lnTo>
                <a:lnTo>
                  <a:pt x="0" y="3605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75" b="-7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374478" y="5143500"/>
            <a:ext cx="6704018" cy="4674876"/>
          </a:xfrm>
          <a:custGeom>
            <a:avLst/>
            <a:gdLst/>
            <a:ahLst/>
            <a:cxnLst/>
            <a:rect l="l" t="t" r="r" b="b"/>
            <a:pathLst>
              <a:path w="6704018" h="4674876">
                <a:moveTo>
                  <a:pt x="0" y="0"/>
                </a:moveTo>
                <a:lnTo>
                  <a:pt x="6704018" y="0"/>
                </a:lnTo>
                <a:lnTo>
                  <a:pt x="6704018" y="4674876"/>
                </a:lnTo>
                <a:lnTo>
                  <a:pt x="0" y="4674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238723" y="2933294"/>
            <a:ext cx="11810554" cy="190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Autonomous Small Precision Machine </a:t>
            </a:r>
          </a:p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for Planting/Weeding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028700" y="4727977"/>
            <a:ext cx="5343564" cy="5029630"/>
          </a:xfrm>
          <a:custGeom>
            <a:avLst/>
            <a:gdLst/>
            <a:ahLst/>
            <a:cxnLst/>
            <a:rect l="l" t="t" r="r" b="b"/>
            <a:pathLst>
              <a:path w="5343564" h="5029630">
                <a:moveTo>
                  <a:pt x="5343564" y="0"/>
                </a:moveTo>
                <a:lnTo>
                  <a:pt x="0" y="0"/>
                </a:lnTo>
                <a:lnTo>
                  <a:pt x="0" y="5029630"/>
                </a:lnTo>
                <a:lnTo>
                  <a:pt x="5343564" y="5029630"/>
                </a:lnTo>
                <a:lnTo>
                  <a:pt x="5343564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390955" y="1143658"/>
            <a:ext cx="4868345" cy="3584319"/>
          </a:xfrm>
          <a:custGeom>
            <a:avLst/>
            <a:gdLst/>
            <a:ahLst/>
            <a:cxnLst/>
            <a:rect l="l" t="t" r="r" b="b"/>
            <a:pathLst>
              <a:path w="4868345" h="3584319">
                <a:moveTo>
                  <a:pt x="0" y="0"/>
                </a:moveTo>
                <a:lnTo>
                  <a:pt x="4868345" y="0"/>
                </a:lnTo>
                <a:lnTo>
                  <a:pt x="4868345" y="3584319"/>
                </a:lnTo>
                <a:lnTo>
                  <a:pt x="0" y="35843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02240" y="914400"/>
            <a:ext cx="6422560" cy="843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099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3289" y="2000936"/>
            <a:ext cx="11376597" cy="2463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2"/>
              </a:lnSpc>
            </a:pPr>
            <a:r>
              <a:rPr lang="en-US" sz="3523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Small and medium-scale farmers face labor shortages, increasing operational costs, and up to 30–40% yield loss due to inefficient and manual planting and weeding practices.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3209" y="7080678"/>
            <a:ext cx="9985871" cy="1624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9"/>
              </a:lnSpc>
            </a:pPr>
            <a:r>
              <a:rPr lang="en-US" sz="3092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Current farming methods lack precision, efficiency, and automation, leading to lower productivity and higher labor costs.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251460" y="647700"/>
            <a:ext cx="4602642" cy="843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099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Our Approach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3934" y="1703976"/>
            <a:ext cx="13253231" cy="195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8253" lvl="1" indent="-404127" algn="l">
              <a:lnSpc>
                <a:spcPts val="5241"/>
              </a:lnSpc>
              <a:buFont typeface="Arial"/>
              <a:buChar char="•"/>
            </a:pPr>
            <a:r>
              <a:rPr lang="en-US" sz="3743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Designed a lightweight, compact machine for precision planting and weeding.</a:t>
            </a:r>
          </a:p>
          <a:p>
            <a:pPr marL="808253" lvl="1" indent="-404127" algn="l">
              <a:lnSpc>
                <a:spcPts val="5241"/>
              </a:lnSpc>
              <a:buFont typeface="Arial"/>
              <a:buChar char="•"/>
            </a:pPr>
            <a:r>
              <a:rPr lang="en-US" sz="3743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Built as per specifications (1000 × 800 × 700 mm, 120 kg).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0" y="6445390"/>
            <a:ext cx="8948270" cy="2326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2" lvl="1" indent="-356236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Autonomous and remotely operable using IoT and AI.</a:t>
            </a:r>
          </a:p>
          <a:p>
            <a:pPr marL="712472" lvl="1" indent="-356236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Integrated solar backup for improved energy efficiency.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EBE45C-0B75-8435-4672-B72F96590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292" y="4457700"/>
            <a:ext cx="6681788" cy="45968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579607" y="1127680"/>
            <a:ext cx="4841188" cy="4098807"/>
          </a:xfrm>
          <a:custGeom>
            <a:avLst/>
            <a:gdLst/>
            <a:ahLst/>
            <a:cxnLst/>
            <a:rect l="l" t="t" r="r" b="b"/>
            <a:pathLst>
              <a:path w="4841188" h="4098807">
                <a:moveTo>
                  <a:pt x="0" y="0"/>
                </a:moveTo>
                <a:lnTo>
                  <a:pt x="4841189" y="0"/>
                </a:lnTo>
                <a:lnTo>
                  <a:pt x="4841189" y="4098807"/>
                </a:lnTo>
                <a:lnTo>
                  <a:pt x="0" y="40988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2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5914" y="5392348"/>
            <a:ext cx="5642471" cy="3315859"/>
          </a:xfrm>
          <a:custGeom>
            <a:avLst/>
            <a:gdLst/>
            <a:ahLst/>
            <a:cxnLst/>
            <a:rect l="l" t="t" r="r" b="b"/>
            <a:pathLst>
              <a:path w="5642471" h="3315859">
                <a:moveTo>
                  <a:pt x="0" y="0"/>
                </a:moveTo>
                <a:lnTo>
                  <a:pt x="5642471" y="0"/>
                </a:lnTo>
                <a:lnTo>
                  <a:pt x="5642471" y="3315859"/>
                </a:lnTo>
                <a:lnTo>
                  <a:pt x="0" y="3315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8848" r="-2934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3642" y="1936848"/>
            <a:ext cx="11607964" cy="2423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Operation Concept:</a:t>
            </a:r>
          </a:p>
          <a:p>
            <a:pPr algn="l">
              <a:lnSpc>
                <a:spcPts val="3856"/>
              </a:lnSpc>
            </a:pPr>
            <a:r>
              <a:rPr lang="en-US" sz="2754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Human loads seedlings → machine plants automatically, row by row.</a:t>
            </a:r>
          </a:p>
          <a:p>
            <a:pPr algn="l">
              <a:lnSpc>
                <a:spcPts val="3856"/>
              </a:lnSpc>
            </a:pPr>
            <a:r>
              <a:rPr lang="en-US" sz="2754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754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Hardware:</a:t>
            </a:r>
          </a:p>
          <a:p>
            <a:pPr algn="l">
              <a:lnSpc>
                <a:spcPts val="3856"/>
              </a:lnSpc>
            </a:pPr>
            <a:r>
              <a:rPr lang="en-US" sz="2754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Compact chassis with seedling hopper, planting arm, motor-driven wheels/tracks, and linear actuators.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6510" y="526732"/>
            <a:ext cx="6177690" cy="843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099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Technical Approach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72109" y="5780913"/>
            <a:ext cx="9398643" cy="247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280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Sensors: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Ultrasonic/IR for obstacle detection, GPS for navigation, Encoders for depth and spacing control.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Software :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Designed and simulated using CATIA V5 and ANSYS.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86400" y="1041904"/>
            <a:ext cx="7315200" cy="1506931"/>
          </a:xfrm>
          <a:custGeom>
            <a:avLst/>
            <a:gdLst/>
            <a:ahLst/>
            <a:cxnLst/>
            <a:rect l="l" t="t" r="r" b="b"/>
            <a:pathLst>
              <a:path w="7315200" h="1506931">
                <a:moveTo>
                  <a:pt x="0" y="0"/>
                </a:moveTo>
                <a:lnTo>
                  <a:pt x="7315200" y="0"/>
                </a:lnTo>
                <a:lnTo>
                  <a:pt x="7315200" y="1506931"/>
                </a:lnTo>
                <a:lnTo>
                  <a:pt x="0" y="15069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86400" y="2983357"/>
            <a:ext cx="7315200" cy="1506931"/>
          </a:xfrm>
          <a:custGeom>
            <a:avLst/>
            <a:gdLst/>
            <a:ahLst/>
            <a:cxnLst/>
            <a:rect l="l" t="t" r="r" b="b"/>
            <a:pathLst>
              <a:path w="7315200" h="1506931">
                <a:moveTo>
                  <a:pt x="0" y="0"/>
                </a:moveTo>
                <a:lnTo>
                  <a:pt x="7315200" y="0"/>
                </a:lnTo>
                <a:lnTo>
                  <a:pt x="7315200" y="1506931"/>
                </a:lnTo>
                <a:lnTo>
                  <a:pt x="0" y="15069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486400" y="4928438"/>
            <a:ext cx="7315200" cy="1506931"/>
          </a:xfrm>
          <a:custGeom>
            <a:avLst/>
            <a:gdLst/>
            <a:ahLst/>
            <a:cxnLst/>
            <a:rect l="l" t="t" r="r" b="b"/>
            <a:pathLst>
              <a:path w="7315200" h="1506931">
                <a:moveTo>
                  <a:pt x="0" y="0"/>
                </a:moveTo>
                <a:lnTo>
                  <a:pt x="7315200" y="0"/>
                </a:lnTo>
                <a:lnTo>
                  <a:pt x="7315200" y="1506931"/>
                </a:lnTo>
                <a:lnTo>
                  <a:pt x="0" y="15069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486400" y="6873519"/>
            <a:ext cx="7315200" cy="1506931"/>
          </a:xfrm>
          <a:custGeom>
            <a:avLst/>
            <a:gdLst/>
            <a:ahLst/>
            <a:cxnLst/>
            <a:rect l="l" t="t" r="r" b="b"/>
            <a:pathLst>
              <a:path w="7315200" h="1506931">
                <a:moveTo>
                  <a:pt x="0" y="0"/>
                </a:moveTo>
                <a:lnTo>
                  <a:pt x="7315200" y="0"/>
                </a:lnTo>
                <a:lnTo>
                  <a:pt x="7315200" y="1506931"/>
                </a:lnTo>
                <a:lnTo>
                  <a:pt x="0" y="15069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486400" y="8818600"/>
            <a:ext cx="7315200" cy="1506931"/>
          </a:xfrm>
          <a:custGeom>
            <a:avLst/>
            <a:gdLst/>
            <a:ahLst/>
            <a:cxnLst/>
            <a:rect l="l" t="t" r="r" b="b"/>
            <a:pathLst>
              <a:path w="7315200" h="1506931">
                <a:moveTo>
                  <a:pt x="0" y="0"/>
                </a:moveTo>
                <a:lnTo>
                  <a:pt x="7315200" y="0"/>
                </a:lnTo>
                <a:lnTo>
                  <a:pt x="7315200" y="1506932"/>
                </a:lnTo>
                <a:lnTo>
                  <a:pt x="0" y="15069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910165" y="2383330"/>
            <a:ext cx="467670" cy="765531"/>
          </a:xfrm>
          <a:custGeom>
            <a:avLst/>
            <a:gdLst/>
            <a:ahLst/>
            <a:cxnLst/>
            <a:rect l="l" t="t" r="r" b="b"/>
            <a:pathLst>
              <a:path w="467670" h="765531">
                <a:moveTo>
                  <a:pt x="0" y="0"/>
                </a:moveTo>
                <a:lnTo>
                  <a:pt x="467670" y="0"/>
                </a:lnTo>
                <a:lnTo>
                  <a:pt x="467670" y="765531"/>
                </a:lnTo>
                <a:lnTo>
                  <a:pt x="0" y="765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85800" y="204880"/>
            <a:ext cx="5161608" cy="837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4800" dirty="0">
                <a:solidFill>
                  <a:srgbClr val="000000"/>
                </a:solidFill>
                <a:latin typeface="Alice Bold" panose="020B0604020202020204" charset="0"/>
                <a:ea typeface="Gagalin"/>
                <a:cs typeface="Gagalin"/>
                <a:sym typeface="Gagalin"/>
              </a:rPr>
              <a:t>PROCESS</a:t>
            </a:r>
            <a:r>
              <a:rPr lang="en-US" sz="4800" dirty="0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 </a:t>
            </a:r>
            <a:r>
              <a:rPr lang="en-US" sz="4800" dirty="0">
                <a:solidFill>
                  <a:srgbClr val="000000"/>
                </a:solidFill>
                <a:latin typeface="Alice Bold" panose="020B0604020202020204" charset="0"/>
                <a:ea typeface="Gagalin"/>
                <a:cs typeface="Gagalin"/>
                <a:sym typeface="Gagalin"/>
              </a:rPr>
              <a:t>FLOW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58485" y="1445802"/>
            <a:ext cx="3061915" cy="594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Boundary Set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67662" y="3387255"/>
            <a:ext cx="3728666" cy="594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Seedlings Loaded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61616" y="5280632"/>
            <a:ext cx="1196784" cy="594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Start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91673" y="7273569"/>
            <a:ext cx="4085927" cy="594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Planting Continues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00788" y="9171025"/>
            <a:ext cx="5891212" cy="594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Stops when Area Completes</a:t>
            </a:r>
          </a:p>
        </p:txBody>
      </p:sp>
      <p:sp>
        <p:nvSpPr>
          <p:cNvPr id="14" name="Freeform 14"/>
          <p:cNvSpPr/>
          <p:nvPr/>
        </p:nvSpPr>
        <p:spPr>
          <a:xfrm>
            <a:off x="8910165" y="4300746"/>
            <a:ext cx="467670" cy="765531"/>
          </a:xfrm>
          <a:custGeom>
            <a:avLst/>
            <a:gdLst/>
            <a:ahLst/>
            <a:cxnLst/>
            <a:rect l="l" t="t" r="r" b="b"/>
            <a:pathLst>
              <a:path w="467670" h="765531">
                <a:moveTo>
                  <a:pt x="0" y="0"/>
                </a:moveTo>
                <a:lnTo>
                  <a:pt x="467670" y="0"/>
                </a:lnTo>
                <a:lnTo>
                  <a:pt x="467670" y="765531"/>
                </a:lnTo>
                <a:lnTo>
                  <a:pt x="0" y="765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899962" y="6198842"/>
            <a:ext cx="467670" cy="765531"/>
          </a:xfrm>
          <a:custGeom>
            <a:avLst/>
            <a:gdLst/>
            <a:ahLst/>
            <a:cxnLst/>
            <a:rect l="l" t="t" r="r" b="b"/>
            <a:pathLst>
              <a:path w="467670" h="765531">
                <a:moveTo>
                  <a:pt x="0" y="0"/>
                </a:moveTo>
                <a:lnTo>
                  <a:pt x="467670" y="0"/>
                </a:lnTo>
                <a:lnTo>
                  <a:pt x="467670" y="765531"/>
                </a:lnTo>
                <a:lnTo>
                  <a:pt x="0" y="765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910165" y="8191779"/>
            <a:ext cx="467670" cy="765531"/>
          </a:xfrm>
          <a:custGeom>
            <a:avLst/>
            <a:gdLst/>
            <a:ahLst/>
            <a:cxnLst/>
            <a:rect l="l" t="t" r="r" b="b"/>
            <a:pathLst>
              <a:path w="467670" h="765531">
                <a:moveTo>
                  <a:pt x="0" y="0"/>
                </a:moveTo>
                <a:lnTo>
                  <a:pt x="467670" y="0"/>
                </a:lnTo>
                <a:lnTo>
                  <a:pt x="467670" y="765531"/>
                </a:lnTo>
                <a:lnTo>
                  <a:pt x="0" y="765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0342" y="1883167"/>
            <a:ext cx="4236870" cy="2957355"/>
          </a:xfrm>
          <a:custGeom>
            <a:avLst/>
            <a:gdLst/>
            <a:ahLst/>
            <a:cxnLst/>
            <a:rect l="l" t="t" r="r" b="b"/>
            <a:pathLst>
              <a:path w="4236870" h="2957355">
                <a:moveTo>
                  <a:pt x="0" y="0"/>
                </a:moveTo>
                <a:lnTo>
                  <a:pt x="4236870" y="0"/>
                </a:lnTo>
                <a:lnTo>
                  <a:pt x="4236870" y="2957355"/>
                </a:lnTo>
                <a:lnTo>
                  <a:pt x="0" y="29573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2978" t="-14044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053874" y="2368040"/>
            <a:ext cx="3238309" cy="2324304"/>
          </a:xfrm>
          <a:custGeom>
            <a:avLst/>
            <a:gdLst/>
            <a:ahLst/>
            <a:cxnLst/>
            <a:rect l="l" t="t" r="r" b="b"/>
            <a:pathLst>
              <a:path w="3238309" h="2324304">
                <a:moveTo>
                  <a:pt x="0" y="0"/>
                </a:moveTo>
                <a:lnTo>
                  <a:pt x="3238309" y="0"/>
                </a:lnTo>
                <a:lnTo>
                  <a:pt x="3238309" y="2324303"/>
                </a:lnTo>
                <a:lnTo>
                  <a:pt x="0" y="23243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3383" r="-25230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549009" y="4840522"/>
            <a:ext cx="5878693" cy="2242227"/>
          </a:xfrm>
          <a:custGeom>
            <a:avLst/>
            <a:gdLst/>
            <a:ahLst/>
            <a:cxnLst/>
            <a:rect l="l" t="t" r="r" b="b"/>
            <a:pathLst>
              <a:path w="5878693" h="2242227">
                <a:moveTo>
                  <a:pt x="0" y="0"/>
                </a:moveTo>
                <a:lnTo>
                  <a:pt x="5878693" y="0"/>
                </a:lnTo>
                <a:lnTo>
                  <a:pt x="5878693" y="2242226"/>
                </a:lnTo>
                <a:lnTo>
                  <a:pt x="0" y="2242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4046" b="-3003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71600" y="551648"/>
            <a:ext cx="3942134" cy="843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099" dirty="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Competitors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2486" y="8058785"/>
            <a:ext cx="17003027" cy="119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Competitors include small-scale agricultural robotics startups and semi-automated planting equipment manufacturers.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8220477" y="3301072"/>
            <a:ext cx="9895859" cy="5061349"/>
          </a:xfrm>
          <a:custGeom>
            <a:avLst/>
            <a:gdLst/>
            <a:ahLst/>
            <a:cxnLst/>
            <a:rect l="l" t="t" r="r" b="b"/>
            <a:pathLst>
              <a:path w="9895859" h="5061349">
                <a:moveTo>
                  <a:pt x="0" y="0"/>
                </a:moveTo>
                <a:lnTo>
                  <a:pt x="9895859" y="0"/>
                </a:lnTo>
                <a:lnTo>
                  <a:pt x="9895859" y="5061349"/>
                </a:lnTo>
                <a:lnTo>
                  <a:pt x="0" y="506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01366" y="139064"/>
            <a:ext cx="3118991" cy="88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099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Marketing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40781" y="1250755"/>
            <a:ext cx="16129949" cy="130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global agriculture machinery market, valued at approx </a:t>
            </a:r>
            <a:r>
              <a:rPr lang="en-US" sz="2500" b="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USD 170–238 billion in 2024</a:t>
            </a: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is projected to grow to over USD 250–400 billion by 2032–2034.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industry is experiencing a CAGR of 4% to 8.6%.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E5E8EC-B43E-08DE-6988-16B1264AC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411" y="3162300"/>
            <a:ext cx="5068501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18879" y="3887051"/>
            <a:ext cx="3939095" cy="4108573"/>
            <a:chOff x="0" y="0"/>
            <a:chExt cx="4686444" cy="48880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6427" cy="4888103"/>
            </a:xfrm>
            <a:custGeom>
              <a:avLst/>
              <a:gdLst/>
              <a:ahLst/>
              <a:cxnLst/>
              <a:rect l="l" t="t" r="r" b="b"/>
              <a:pathLst>
                <a:path w="4686427" h="4888103">
                  <a:moveTo>
                    <a:pt x="0" y="0"/>
                  </a:moveTo>
                  <a:lnTo>
                    <a:pt x="4686427" y="0"/>
                  </a:lnTo>
                  <a:lnTo>
                    <a:pt x="4686427" y="4888103"/>
                  </a:lnTo>
                  <a:lnTo>
                    <a:pt x="0" y="48881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" r="-1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5539633" y="473308"/>
            <a:ext cx="1887391" cy="2291534"/>
          </a:xfrm>
          <a:custGeom>
            <a:avLst/>
            <a:gdLst/>
            <a:ahLst/>
            <a:cxnLst/>
            <a:rect l="l" t="t" r="r" b="b"/>
            <a:pathLst>
              <a:path w="1887391" h="2291534">
                <a:moveTo>
                  <a:pt x="0" y="0"/>
                </a:moveTo>
                <a:lnTo>
                  <a:pt x="1887391" y="0"/>
                </a:lnTo>
                <a:lnTo>
                  <a:pt x="1887391" y="2291534"/>
                </a:lnTo>
                <a:lnTo>
                  <a:pt x="0" y="2291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6" r="-12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70226" y="139064"/>
            <a:ext cx="4596259" cy="88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099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Business Model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19103" y="5057775"/>
            <a:ext cx="9030721" cy="4133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9"/>
              </a:lnSpc>
            </a:pPr>
            <a:r>
              <a:rPr lang="en-US" sz="3370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Our Target Customers are </a:t>
            </a:r>
          </a:p>
          <a:p>
            <a:pPr marL="727743" lvl="1" indent="-363871" algn="l">
              <a:lnSpc>
                <a:spcPts val="4719"/>
              </a:lnSpc>
              <a:buFont typeface="Arial"/>
              <a:buChar char="•"/>
            </a:pPr>
            <a:r>
              <a:rPr lang="en-US" sz="337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Small and medium-scale farmers (B2C)</a:t>
            </a:r>
          </a:p>
          <a:p>
            <a:pPr marL="727743" lvl="1" indent="-363871" algn="l">
              <a:lnSpc>
                <a:spcPts val="4719"/>
              </a:lnSpc>
              <a:buFont typeface="Arial"/>
              <a:buChar char="•"/>
            </a:pPr>
            <a:r>
              <a:rPr lang="en-US" sz="337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Agricultural cooperatives</a:t>
            </a:r>
          </a:p>
          <a:p>
            <a:pPr marL="727743" lvl="1" indent="-363871" algn="l">
              <a:lnSpc>
                <a:spcPts val="4719"/>
              </a:lnSpc>
              <a:buFont typeface="Arial"/>
              <a:buChar char="•"/>
            </a:pPr>
            <a:r>
              <a:rPr lang="en-US" sz="337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Government farming schemes</a:t>
            </a:r>
          </a:p>
          <a:p>
            <a:pPr marL="727743" lvl="1" indent="-363871" algn="l">
              <a:lnSpc>
                <a:spcPts val="4719"/>
              </a:lnSpc>
              <a:buFont typeface="Arial"/>
              <a:buChar char="•"/>
            </a:pPr>
            <a:r>
              <a:rPr lang="en-US" sz="337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Precision agriculture startups</a:t>
            </a:r>
          </a:p>
          <a:p>
            <a:pPr marL="727743" lvl="1" indent="-363871" algn="l">
              <a:lnSpc>
                <a:spcPts val="4719"/>
              </a:lnSpc>
              <a:buFont typeface="Arial"/>
              <a:buChar char="•"/>
            </a:pPr>
            <a:r>
              <a:rPr lang="en-US" sz="337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Rural development programs</a:t>
            </a:r>
          </a:p>
          <a:p>
            <a:pPr algn="l">
              <a:lnSpc>
                <a:spcPts val="4719"/>
              </a:lnSpc>
            </a:pPr>
            <a:endParaRPr lang="en-US" sz="3370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03849" y="1802001"/>
            <a:ext cx="8652718" cy="705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Hybird Business Model(B2C and  B2B)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04875" y="1440136"/>
            <a:ext cx="6704018" cy="4674876"/>
          </a:xfrm>
          <a:custGeom>
            <a:avLst/>
            <a:gdLst/>
            <a:ahLst/>
            <a:cxnLst/>
            <a:rect l="l" t="t" r="r" b="b"/>
            <a:pathLst>
              <a:path w="6704018" h="4674876">
                <a:moveTo>
                  <a:pt x="0" y="0"/>
                </a:moveTo>
                <a:lnTo>
                  <a:pt x="6704018" y="0"/>
                </a:lnTo>
                <a:lnTo>
                  <a:pt x="6704018" y="4674876"/>
                </a:lnTo>
                <a:lnTo>
                  <a:pt x="0" y="4674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362835"/>
            <a:ext cx="7431862" cy="5189330"/>
          </a:xfrm>
          <a:custGeom>
            <a:avLst/>
            <a:gdLst/>
            <a:ahLst/>
            <a:cxnLst/>
            <a:rect l="l" t="t" r="r" b="b"/>
            <a:pathLst>
              <a:path w="7431862" h="5189330">
                <a:moveTo>
                  <a:pt x="0" y="0"/>
                </a:moveTo>
                <a:lnTo>
                  <a:pt x="7431862" y="0"/>
                </a:lnTo>
                <a:lnTo>
                  <a:pt x="7431862" y="5189330"/>
                </a:lnTo>
                <a:lnTo>
                  <a:pt x="0" y="5189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36579" y="139064"/>
            <a:ext cx="3663553" cy="88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099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Uniqueness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3291" y="1567082"/>
            <a:ext cx="10784415" cy="247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Designed to enhance planting precision by up to 30% (estimated based on controlled spacing and depth monitoring)., reduces labor costs by ~40%, and lowers carbon footprint by ~20% through a solar-hybrid system. Integrates IoT, AI, and smart automation, with a scalable design adaptable for multiple crops.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40885" y="6331600"/>
            <a:ext cx="4202460" cy="88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099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Future Vision 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17716" y="7485449"/>
            <a:ext cx="10041584" cy="148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We aim to enhance AI-driven decision-making, improve energy efficiency, and make smart farming accessible and affordable for farmers worldwide.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7430" y="1076077"/>
            <a:ext cx="2650510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5"/>
              </a:lnSpc>
            </a:pPr>
            <a:r>
              <a:rPr lang="en-US" sz="5100" spc="-91">
                <a:solidFill>
                  <a:srgbClr val="566660"/>
                </a:solidFill>
                <a:latin typeface="Gagalin"/>
                <a:ea typeface="Gagalin"/>
                <a:cs typeface="Gagalin"/>
                <a:sym typeface="Gagalin"/>
              </a:rPr>
              <a:t>OUR TEAM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93201" y="2474965"/>
            <a:ext cx="487456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 spc="-344">
                <a:solidFill>
                  <a:srgbClr val="566660"/>
                </a:solidFill>
                <a:latin typeface="Poppins"/>
                <a:ea typeface="Poppins"/>
                <a:cs typeface="Poppins"/>
                <a:sym typeface="Poppins"/>
              </a:rPr>
              <a:t>Shaik Zainab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93201" y="6570715"/>
            <a:ext cx="6182961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 spc="-344">
                <a:solidFill>
                  <a:srgbClr val="566660"/>
                </a:solidFill>
                <a:latin typeface="Poppins"/>
                <a:ea typeface="Poppins"/>
                <a:cs typeface="Poppins"/>
                <a:sym typeface="Poppins"/>
              </a:rPr>
              <a:t>Sai Pranith Varma Pothuri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93201" y="3294115"/>
            <a:ext cx="5545464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 spc="-344">
                <a:solidFill>
                  <a:srgbClr val="566660"/>
                </a:solidFill>
                <a:latin typeface="Poppins"/>
                <a:ea typeface="Poppins"/>
                <a:cs typeface="Poppins"/>
                <a:sym typeface="Poppins"/>
              </a:rPr>
              <a:t>P.Hemanth  Siva Reddy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93201" y="5751565"/>
            <a:ext cx="5545464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 spc="-344">
                <a:solidFill>
                  <a:srgbClr val="566660"/>
                </a:solidFill>
                <a:latin typeface="Poppins"/>
                <a:ea typeface="Poppins"/>
                <a:cs typeface="Poppins"/>
                <a:sym typeface="Poppins"/>
              </a:rPr>
              <a:t>V.J.Phaneendra Kumar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93201" y="4932415"/>
            <a:ext cx="5545464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 spc="-344">
                <a:solidFill>
                  <a:srgbClr val="566660"/>
                </a:solidFill>
                <a:latin typeface="Poppins"/>
                <a:ea typeface="Poppins"/>
                <a:cs typeface="Poppins"/>
                <a:sym typeface="Poppins"/>
              </a:rPr>
              <a:t>Modepalli Hareesh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93201" y="7389865"/>
            <a:ext cx="5545464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 spc="-344">
                <a:solidFill>
                  <a:srgbClr val="566660"/>
                </a:solidFill>
                <a:latin typeface="Poppins"/>
                <a:ea typeface="Poppins"/>
                <a:cs typeface="Poppins"/>
                <a:sym typeface="Poppins"/>
              </a:rPr>
              <a:t>R.Anand Narayana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93201" y="4113265"/>
            <a:ext cx="5545464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 spc="-344">
                <a:solidFill>
                  <a:srgbClr val="566660"/>
                </a:solidFill>
                <a:latin typeface="Poppins"/>
                <a:ea typeface="Poppins"/>
                <a:cs typeface="Poppins"/>
                <a:sym typeface="Poppins"/>
              </a:rPr>
              <a:t>Katakamasetty Vinay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18085" y="2629905"/>
            <a:ext cx="2936115" cy="521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dirty="0">
                <a:solidFill>
                  <a:srgbClr val="566660"/>
                </a:solidFill>
                <a:latin typeface="Canva Sans"/>
                <a:ea typeface="Canva Sans"/>
                <a:cs typeface="Canva Sans"/>
                <a:sym typeface="Canva Sans"/>
              </a:rPr>
              <a:t>Team Leader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86431" y="3364230"/>
            <a:ext cx="4376714" cy="521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dirty="0">
                <a:solidFill>
                  <a:srgbClr val="566660"/>
                </a:solidFill>
                <a:latin typeface="Canva Sans"/>
                <a:ea typeface="Canva Sans"/>
                <a:cs typeface="Canva Sans"/>
                <a:sym typeface="Canva Sans"/>
              </a:rPr>
              <a:t>Simulation &amp; Analysis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86431" y="4160921"/>
            <a:ext cx="4376713" cy="521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dirty="0">
                <a:solidFill>
                  <a:srgbClr val="566660"/>
                </a:solidFill>
                <a:latin typeface="Canva Sans"/>
                <a:ea typeface="Canva Sans"/>
                <a:cs typeface="Canva Sans"/>
                <a:sym typeface="Canva Sans"/>
              </a:rPr>
              <a:t>Simulation &amp;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23302" y="5019261"/>
            <a:ext cx="3359382" cy="521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dirty="0">
                <a:solidFill>
                  <a:srgbClr val="566660"/>
                </a:solidFill>
                <a:latin typeface="Canva Sans"/>
                <a:ea typeface="Canva Sans"/>
                <a:cs typeface="Canva Sans"/>
                <a:sym typeface="Canva Sans"/>
              </a:rPr>
              <a:t>Design Engineer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98721" y="5829034"/>
            <a:ext cx="6026382" cy="521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dirty="0">
                <a:solidFill>
                  <a:srgbClr val="566660"/>
                </a:solidFill>
                <a:latin typeface="Canva Sans"/>
                <a:ea typeface="Canva Sans"/>
                <a:cs typeface="Canva Sans"/>
                <a:sym typeface="Canva Sans"/>
              </a:rPr>
              <a:t>Electronics &amp; Sensors Engineer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18087" y="7389865"/>
            <a:ext cx="4376712" cy="521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dirty="0">
                <a:solidFill>
                  <a:srgbClr val="566660"/>
                </a:solidFill>
                <a:latin typeface="Canva Sans"/>
                <a:ea typeface="Canva Sans"/>
                <a:cs typeface="Canva Sans"/>
                <a:sym typeface="Canva Sans"/>
              </a:rPr>
              <a:t>AI and IoT Developer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98721" y="6682300"/>
            <a:ext cx="6026382" cy="521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dirty="0">
                <a:solidFill>
                  <a:srgbClr val="566660"/>
                </a:solidFill>
                <a:latin typeface="Canva Sans"/>
                <a:ea typeface="Canva Sans"/>
                <a:cs typeface="Canva Sans"/>
                <a:sym typeface="Canva Sans"/>
              </a:rPr>
              <a:t>Electronics &amp; Sensors 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409</Words>
  <Application>Microsoft Office PowerPoint</Application>
  <PresentationFormat>Custom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Gagalin</vt:lpstr>
      <vt:lpstr>Alice</vt:lpstr>
      <vt:lpstr>Poppins</vt:lpstr>
      <vt:lpstr>Calibri</vt:lpstr>
      <vt:lpstr>Arial</vt:lpstr>
      <vt:lpstr>Alice Bold</vt:lpstr>
      <vt:lpstr>Canva Sans Medium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Quadquest</dc:title>
  <cp:lastModifiedBy>Hemanth siva reddy Pulagam</cp:lastModifiedBy>
  <cp:revision>4</cp:revision>
  <dcterms:created xsi:type="dcterms:W3CDTF">2006-08-16T00:00:00Z</dcterms:created>
  <dcterms:modified xsi:type="dcterms:W3CDTF">2026-08-19T10:53:27Z</dcterms:modified>
  <dc:identifier>DAHBfbmdxFA</dc:identifier>
</cp:coreProperties>
</file>